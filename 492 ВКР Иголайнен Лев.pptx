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Playfair Display Semi Bold" panose="020B0604020202020204" charset="-52"/>
      <p:regular r:id="rId21"/>
    </p:embeddedFont>
    <p:embeddedFont>
      <p:font typeface="Public Sans" pitchFamily="2" charset="0"/>
      <p:regular r:id="rId22"/>
      <p:bold r:id="rId23"/>
      <p:italic r:id="rId24"/>
      <p:bold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966C"/>
    <a:srgbClr val="FFF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746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Микросервисная система учета заказов в кафе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Данная презентация представляет собой обзор микросервисной системы для учета заказов в небольшом кафе. Проект направлен на автоматизацию и повышение эффективности работы персонала.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350" y="1204436"/>
            <a:ext cx="7007423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Цель проекта и архитектура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7350" y="2139196"/>
            <a:ext cx="3763566" cy="2503646"/>
          </a:xfrm>
          <a:prstGeom prst="roundRect">
            <a:avLst>
              <a:gd name="adj" fmla="val 4383"/>
            </a:avLst>
          </a:prstGeom>
          <a:solidFill>
            <a:srgbClr val="FFFAF6"/>
          </a:solidFill>
          <a:ln w="22860">
            <a:solidFill>
              <a:srgbClr val="E1C2C2"/>
            </a:solidFill>
            <a:prstDash val="solid"/>
          </a:ln>
          <a:effectLst>
            <a:outerShdw dist="1778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4490" y="2139196"/>
            <a:ext cx="91440" cy="2503646"/>
          </a:xfrm>
          <a:prstGeom prst="roundRect">
            <a:avLst>
              <a:gd name="adj" fmla="val 92839"/>
            </a:avLst>
          </a:prstGeom>
          <a:solidFill>
            <a:srgbClr val="E1C2C2"/>
          </a:solidFill>
          <a:ln/>
        </p:spPr>
      </p:sp>
      <p:sp>
        <p:nvSpPr>
          <p:cNvPr id="6" name="Text 3"/>
          <p:cNvSpPr/>
          <p:nvPr/>
        </p:nvSpPr>
        <p:spPr>
          <a:xfrm>
            <a:off x="1000839" y="2364105"/>
            <a:ext cx="25265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Основная цель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00839" y="2801064"/>
            <a:ext cx="3245168" cy="161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Автоматизация процесса приема и обработки заказов, обеспечение удобного веб-интерфейса для официантов и администраторов.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672965" y="2139196"/>
            <a:ext cx="3763685" cy="2503646"/>
          </a:xfrm>
          <a:prstGeom prst="roundRect">
            <a:avLst>
              <a:gd name="adj" fmla="val 4383"/>
            </a:avLst>
          </a:prstGeom>
          <a:solidFill>
            <a:srgbClr val="FFFAF6"/>
          </a:solidFill>
          <a:ln w="22860">
            <a:solidFill>
              <a:srgbClr val="CCC4EC"/>
            </a:solidFill>
            <a:prstDash val="solid"/>
          </a:ln>
          <a:effectLst>
            <a:outerShdw dist="17780" dir="2700000" algn="bl" rotWithShape="0">
              <a:srgbClr val="CCC4EC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50105" y="2139196"/>
            <a:ext cx="91440" cy="2503646"/>
          </a:xfrm>
          <a:prstGeom prst="roundRect">
            <a:avLst>
              <a:gd name="adj" fmla="val 92839"/>
            </a:avLst>
          </a:prstGeom>
          <a:solidFill>
            <a:srgbClr val="CCC4EC"/>
          </a:solidFill>
          <a:ln/>
        </p:spPr>
      </p:sp>
      <p:sp>
        <p:nvSpPr>
          <p:cNvPr id="10" name="Text 7"/>
          <p:cNvSpPr/>
          <p:nvPr/>
        </p:nvSpPr>
        <p:spPr>
          <a:xfrm>
            <a:off x="4966454" y="2364105"/>
            <a:ext cx="25265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Тип приложения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4966454" y="2801064"/>
            <a:ext cx="3245287" cy="129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Single Page Application (SPA) без использования react-router для быстрой навигации без перезагрузки страницы.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07350" y="4844891"/>
            <a:ext cx="3763566" cy="2180273"/>
          </a:xfrm>
          <a:prstGeom prst="roundRect">
            <a:avLst>
              <a:gd name="adj" fmla="val 5033"/>
            </a:avLst>
          </a:prstGeom>
          <a:solidFill>
            <a:srgbClr val="FFFAF6"/>
          </a:solidFill>
          <a:ln w="22860">
            <a:solidFill>
              <a:srgbClr val="B4DAE4"/>
            </a:solidFill>
            <a:prstDash val="solid"/>
          </a:ln>
          <a:effectLst>
            <a:outerShdw dist="17780" dir="2700000" algn="bl" rotWithShape="0">
              <a:srgbClr val="B4DAE4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4490" y="4844891"/>
            <a:ext cx="91440" cy="2180273"/>
          </a:xfrm>
          <a:prstGeom prst="roundRect">
            <a:avLst>
              <a:gd name="adj" fmla="val 92839"/>
            </a:avLst>
          </a:prstGeom>
          <a:solidFill>
            <a:srgbClr val="B4DAE4"/>
          </a:solidFill>
          <a:ln/>
        </p:spPr>
      </p:sp>
      <p:sp>
        <p:nvSpPr>
          <p:cNvPr id="14" name="Text 11"/>
          <p:cNvSpPr/>
          <p:nvPr/>
        </p:nvSpPr>
        <p:spPr>
          <a:xfrm>
            <a:off x="1000839" y="5069800"/>
            <a:ext cx="252650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Архитектура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00839" y="5506760"/>
            <a:ext cx="3245168" cy="129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Микросервисная система, обеспечивающая масштабируемость и независимость компонентов.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2235"/>
            <a:ext cx="104465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Возможности для всех пользователей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5464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Система предоставляет базовые функции, доступные как авторизованным, так и неавторизованным пользователям, обеспечивая прозрачность и доступность информации о работе кафе.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835598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7995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Просмотр меню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2899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Фильтрация по категориям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73214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Поиск по названию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17434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Отображение цен и доступности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69825" y="3822025"/>
            <a:ext cx="612338" cy="707588"/>
          </a:xfrm>
          <a:prstGeom prst="roundRect">
            <a:avLst>
              <a:gd name="adj" fmla="val 8960"/>
            </a:avLst>
          </a:prstGeom>
          <a:solidFill>
            <a:srgbClr val="DFDFE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914" y="4032290"/>
            <a:ext cx="340162" cy="27217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5893" y="47995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Просмотр заказов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35893" y="52899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Список активных заказов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235893" y="573214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Фильтрация по статусу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711928" y="3822025"/>
            <a:ext cx="612338" cy="707588"/>
          </a:xfrm>
          <a:prstGeom prst="roundRect">
            <a:avLst>
              <a:gd name="adj" fmla="val 8960"/>
            </a:avLst>
          </a:prstGeom>
          <a:solidFill>
            <a:srgbClr val="DFDFE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017" y="4032290"/>
            <a:ext cx="340162" cy="27217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77995" y="47995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Просмотр столиков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677995" y="52899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Схема зала со статусами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9677995" y="573214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Информация о вместимости</a:t>
            </a:r>
            <a:endParaRPr lang="en-US" sz="1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DF99568-E47E-46EE-9E50-A49AF2DD5003}"/>
              </a:ext>
            </a:extLst>
          </p:cNvPr>
          <p:cNvSpPr/>
          <p:nvPr/>
        </p:nvSpPr>
        <p:spPr>
          <a:xfrm>
            <a:off x="12768349" y="7764088"/>
            <a:ext cx="1784466" cy="401696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2" y="311825"/>
            <a:ext cx="63330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Функции для авторизованных пользователей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728442" y="892969"/>
            <a:ext cx="7173397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Для официантов и администраторов система предлагает расширенный набор функций, позволяющих эффективно управлять операционной деятельностью кафе.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728442" y="149673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Официант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442" y="1907738"/>
            <a:ext cx="3448288" cy="3118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28442" y="5216823"/>
            <a:ext cx="56674" cy="56674"/>
          </a:xfrm>
          <a:prstGeom prst="roundRect">
            <a:avLst>
              <a:gd name="adj" fmla="val 806719"/>
            </a:avLst>
          </a:prstGeom>
          <a:solidFill>
            <a:srgbClr val="E1C2C2"/>
          </a:solidFill>
          <a:ln/>
        </p:spPr>
      </p:sp>
      <p:sp>
        <p:nvSpPr>
          <p:cNvPr id="7" name="Text 4"/>
          <p:cNvSpPr/>
          <p:nvPr/>
        </p:nvSpPr>
        <p:spPr>
          <a:xfrm>
            <a:off x="3898463" y="5156578"/>
            <a:ext cx="148637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Управление заказами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98463" y="5447090"/>
            <a:ext cx="327826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Создание новых заказов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898463" y="5668189"/>
            <a:ext cx="327826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Изменение статуса заказов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898463" y="5889288"/>
            <a:ext cx="327826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Добавление позиций в заказ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728442" y="6357799"/>
            <a:ext cx="56674" cy="56674"/>
          </a:xfrm>
          <a:prstGeom prst="roundRect">
            <a:avLst>
              <a:gd name="adj" fmla="val 806719"/>
            </a:avLst>
          </a:prstGeom>
          <a:solidFill>
            <a:srgbClr val="CCC4EC"/>
          </a:solidFill>
          <a:ln/>
        </p:spPr>
      </p:sp>
      <p:sp>
        <p:nvSpPr>
          <p:cNvPr id="12" name="Text 9"/>
          <p:cNvSpPr/>
          <p:nvPr/>
        </p:nvSpPr>
        <p:spPr>
          <a:xfrm>
            <a:off x="3898463" y="6297553"/>
            <a:ext cx="160496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Управление столиками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98463" y="6588066"/>
            <a:ext cx="3278267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Изменение статуса столов (свободен/занят/забронирован)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461052" y="149673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Администратор</a:t>
            </a:r>
            <a:endParaRPr lang="en-US" sz="17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052" y="1907738"/>
            <a:ext cx="3448288" cy="311169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461052" y="5216823"/>
            <a:ext cx="56674" cy="56674"/>
          </a:xfrm>
          <a:prstGeom prst="roundRect">
            <a:avLst>
              <a:gd name="adj" fmla="val 806719"/>
            </a:avLst>
          </a:prstGeom>
          <a:solidFill>
            <a:srgbClr val="E1C2C2"/>
          </a:solidFill>
          <a:ln/>
        </p:spPr>
      </p:sp>
      <p:sp>
        <p:nvSpPr>
          <p:cNvPr id="17" name="Text 13"/>
          <p:cNvSpPr/>
          <p:nvPr/>
        </p:nvSpPr>
        <p:spPr>
          <a:xfrm>
            <a:off x="7631073" y="5156578"/>
            <a:ext cx="172283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Все функции официанта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631073" y="5447090"/>
            <a:ext cx="327826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Дополнительно к базовым функциям официанта, администратор обладает полным контролем над настройками кафе.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461052" y="6278503"/>
            <a:ext cx="56674" cy="56674"/>
          </a:xfrm>
          <a:prstGeom prst="roundRect">
            <a:avLst>
              <a:gd name="adj" fmla="val 806719"/>
            </a:avLst>
          </a:prstGeom>
          <a:solidFill>
            <a:srgbClr val="CCC4EC"/>
          </a:solidFill>
          <a:ln/>
        </p:spPr>
      </p:sp>
      <p:sp>
        <p:nvSpPr>
          <p:cNvPr id="20" name="Text 16"/>
          <p:cNvSpPr/>
          <p:nvPr/>
        </p:nvSpPr>
        <p:spPr>
          <a:xfrm>
            <a:off x="7631073" y="6218258"/>
            <a:ext cx="175283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Управление меню (CRUD)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631073" y="6508770"/>
            <a:ext cx="327826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Добавление, редактирование, деактивация позиций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461052" y="6977281"/>
            <a:ext cx="56674" cy="56674"/>
          </a:xfrm>
          <a:prstGeom prst="roundRect">
            <a:avLst>
              <a:gd name="adj" fmla="val 806719"/>
            </a:avLst>
          </a:prstGeom>
          <a:solidFill>
            <a:srgbClr val="B4DAE4"/>
          </a:solidFill>
          <a:ln/>
        </p:spPr>
      </p:sp>
      <p:sp>
        <p:nvSpPr>
          <p:cNvPr id="23" name="Text 19"/>
          <p:cNvSpPr/>
          <p:nvPr/>
        </p:nvSpPr>
        <p:spPr>
          <a:xfrm>
            <a:off x="7631073" y="6917036"/>
            <a:ext cx="227945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Управление категориями (CRUD)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631073" y="7207548"/>
            <a:ext cx="327826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Создание, редактирование, сортировка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461052" y="7676059"/>
            <a:ext cx="56674" cy="56674"/>
          </a:xfrm>
          <a:prstGeom prst="roundRect">
            <a:avLst>
              <a:gd name="adj" fmla="val 806719"/>
            </a:avLst>
          </a:prstGeom>
          <a:solidFill>
            <a:srgbClr val="E1C2C2"/>
          </a:solidFill>
          <a:ln/>
        </p:spPr>
      </p:sp>
      <p:sp>
        <p:nvSpPr>
          <p:cNvPr id="26" name="Text 22"/>
          <p:cNvSpPr/>
          <p:nvPr/>
        </p:nvSpPr>
        <p:spPr>
          <a:xfrm>
            <a:off x="7631073" y="7615813"/>
            <a:ext cx="212574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Управление столиками (CRUD)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631073" y="7906326"/>
            <a:ext cx="327826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Добавление, редактирование, деактивация</a:t>
            </a:r>
            <a:endParaRPr lang="en-US" sz="85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968A784-F147-462C-840A-5AAE47DB7E9B}"/>
              </a:ext>
            </a:extLst>
          </p:cNvPr>
          <p:cNvSpPr/>
          <p:nvPr/>
        </p:nvSpPr>
        <p:spPr>
          <a:xfrm>
            <a:off x="12768349" y="7764088"/>
            <a:ext cx="1784466" cy="401696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2118" y="404574"/>
            <a:ext cx="5671661" cy="45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Технологический стек Frontend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662118" y="1158478"/>
            <a:ext cx="9306044" cy="470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Frontend-часть приложения реализована с использованием современных и эффективных технологий для обеспечения высокой производительности и удобства разработки.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662118" y="1794748"/>
            <a:ext cx="588526" cy="882729"/>
          </a:xfrm>
          <a:prstGeom prst="roundRect">
            <a:avLst>
              <a:gd name="adj" fmla="val 360000"/>
            </a:avLst>
          </a:prstGeom>
          <a:solidFill>
            <a:srgbClr val="E1C2C2">
              <a:alpha val="50000"/>
            </a:srgbClr>
          </a:solidFill>
          <a:ln w="7620">
            <a:solidFill>
              <a:srgbClr val="C7A8A8"/>
            </a:solidFill>
            <a:prstDash val="solid"/>
          </a:ln>
          <a:effectLst>
            <a:outerShdw dist="12700" dir="2700000" algn="bl" rotWithShape="0">
              <a:srgbClr val="C7A8A8">
                <a:alpha val="10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6070" y="2125742"/>
            <a:ext cx="220623" cy="2206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97687" y="1941790"/>
            <a:ext cx="1839039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React 19.2.0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97687" y="2259925"/>
            <a:ext cx="8570476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Библиотека для создания пользовательского интерфейса.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662118" y="2824520"/>
            <a:ext cx="588526" cy="882729"/>
          </a:xfrm>
          <a:prstGeom prst="roundRect">
            <a:avLst>
              <a:gd name="adj" fmla="val 360000"/>
            </a:avLst>
          </a:prstGeom>
          <a:solidFill>
            <a:srgbClr val="CCC4EC">
              <a:alpha val="50000"/>
            </a:srgbClr>
          </a:solidFill>
          <a:ln w="7620">
            <a:solidFill>
              <a:srgbClr val="B2AAD2"/>
            </a:solidFill>
            <a:prstDash val="solid"/>
          </a:ln>
          <a:effectLst>
            <a:outerShdw dist="12700" dir="2700000" algn="bl" rotWithShape="0">
              <a:srgbClr val="B2AAD2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846070" y="3127891"/>
            <a:ext cx="220623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397687" y="2971562"/>
            <a:ext cx="1839039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TypeScript 5.9.3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97687" y="3289697"/>
            <a:ext cx="8570476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Типизированный JavaScript для повышения надежности кода.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662118" y="3854291"/>
            <a:ext cx="588526" cy="882729"/>
          </a:xfrm>
          <a:prstGeom prst="roundRect">
            <a:avLst>
              <a:gd name="adj" fmla="val 360000"/>
            </a:avLst>
          </a:prstGeom>
          <a:solidFill>
            <a:srgbClr val="B4DAE4">
              <a:alpha val="50000"/>
            </a:srgbClr>
          </a:solidFill>
          <a:ln w="7620">
            <a:solidFill>
              <a:srgbClr val="9AC0CA"/>
            </a:solidFill>
            <a:prstDash val="solid"/>
          </a:ln>
          <a:effectLst>
            <a:outerShdw dist="12700" dir="2700000" algn="bl" rotWithShape="0">
              <a:srgbClr val="9AC0CA">
                <a:alpha val="10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6070" y="4185285"/>
            <a:ext cx="220623" cy="22062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97687" y="4001333"/>
            <a:ext cx="1839039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Vite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97687" y="4319468"/>
            <a:ext cx="8570476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Современный инструмент сборки, обеспечивающий быструю разработку.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662118" y="4884063"/>
            <a:ext cx="588526" cy="882729"/>
          </a:xfrm>
          <a:prstGeom prst="roundRect">
            <a:avLst>
              <a:gd name="adj" fmla="val 360000"/>
            </a:avLst>
          </a:prstGeom>
          <a:solidFill>
            <a:srgbClr val="E1C2C2">
              <a:alpha val="50000"/>
            </a:srgbClr>
          </a:solidFill>
          <a:ln w="7620">
            <a:solidFill>
              <a:srgbClr val="C7A8A8"/>
            </a:solidFill>
            <a:prstDash val="solid"/>
          </a:ln>
          <a:effectLst>
            <a:outerShdw dist="12700" dir="2700000" algn="bl" rotWithShape="0">
              <a:srgbClr val="C7A8A8">
                <a:alpha val="10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46070" y="5215057"/>
            <a:ext cx="220623" cy="22062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397687" y="5031105"/>
            <a:ext cx="1839039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MobX 6.15.0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397687" y="5349240"/>
            <a:ext cx="8570476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Библиотека для эффективного управления состоянием приложения.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662118" y="5913834"/>
            <a:ext cx="588526" cy="882729"/>
          </a:xfrm>
          <a:prstGeom prst="roundRect">
            <a:avLst>
              <a:gd name="adj" fmla="val 360000"/>
            </a:avLst>
          </a:prstGeom>
          <a:solidFill>
            <a:srgbClr val="CCC4EC">
              <a:alpha val="50000"/>
            </a:srgbClr>
          </a:solidFill>
          <a:ln w="7620">
            <a:solidFill>
              <a:srgbClr val="B2AAD2"/>
            </a:solidFill>
            <a:prstDash val="solid"/>
          </a:ln>
          <a:effectLst>
            <a:outerShdw dist="12700" dir="2700000" algn="bl" rotWithShape="0">
              <a:srgbClr val="B2AAD2">
                <a:alpha val="10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2846070" y="6217206"/>
            <a:ext cx="220623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3397687" y="6060877"/>
            <a:ext cx="1839039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SCSS/SASS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397687" y="6379012"/>
            <a:ext cx="8570476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Препроцессор CSS для модульной и гибкой стилизации.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2662118" y="6943606"/>
            <a:ext cx="588526" cy="882729"/>
          </a:xfrm>
          <a:prstGeom prst="roundRect">
            <a:avLst>
              <a:gd name="adj" fmla="val 360000"/>
            </a:avLst>
          </a:prstGeom>
          <a:solidFill>
            <a:srgbClr val="B4DAE4">
              <a:alpha val="50000"/>
            </a:srgbClr>
          </a:solidFill>
          <a:ln w="7620">
            <a:solidFill>
              <a:srgbClr val="9AC0CA"/>
            </a:solidFill>
            <a:prstDash val="solid"/>
          </a:ln>
          <a:effectLst>
            <a:outerShdw dist="12700" dir="2700000" algn="bl" rotWithShape="0">
              <a:srgbClr val="9AC0CA">
                <a:alpha val="100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46070" y="7274600"/>
            <a:ext cx="220623" cy="22062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397687" y="7090648"/>
            <a:ext cx="1839039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Firebase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397687" y="7408783"/>
            <a:ext cx="8570476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База данных (Firebase Realtime Database) для хранения данных.</a:t>
            </a:r>
            <a:endParaRPr lang="en-US" sz="115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E7239A3-F750-4027-BBFE-B3E4DA53D94C}"/>
              </a:ext>
            </a:extLst>
          </p:cNvPr>
          <p:cNvSpPr/>
          <p:nvPr/>
        </p:nvSpPr>
        <p:spPr>
          <a:xfrm>
            <a:off x="12768349" y="7764088"/>
            <a:ext cx="1784466" cy="401696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2897"/>
            <a:ext cx="80154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Структура проекта: Frontend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353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Проект имеет четко определенную и логичную структуру, что облегчает разработку, поддержку и масштабирование.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801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Основные разделы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8613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components/</a:t>
            </a: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Переиспользуемые UI компоненты.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3035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pages/</a:t>
            </a: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Отдельные страницы приложения.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457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store/</a:t>
            </a: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Управление состоянием (MobX stores).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1879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types/</a:t>
            </a: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TypeScript типы и интерфейсы.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6301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styles/</a:t>
            </a: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Глобальные стили приложения.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0723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firebase.ts</a:t>
            </a: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Конфигурация Firebase.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5145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App.tsx</a:t>
            </a: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Главный компонент приложения.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32574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4A8FA70-5531-4C85-B9BB-0BB537C8F0F0}"/>
              </a:ext>
            </a:extLst>
          </p:cNvPr>
          <p:cNvSpPr/>
          <p:nvPr/>
        </p:nvSpPr>
        <p:spPr>
          <a:xfrm>
            <a:off x="12768349" y="7764088"/>
            <a:ext cx="1784466" cy="401696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7596" y="603052"/>
            <a:ext cx="8076128" cy="68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Система ролей и прав доступа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7596" y="1727002"/>
            <a:ext cx="13095208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Проект реализует гибкую систему ролей, обеспечивая соответствующий уровень доступа к функциям системы для каждого типа пользователя.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965" y="2675453"/>
            <a:ext cx="2160627" cy="16146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87033" y="3499247"/>
            <a:ext cx="308372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340906" y="3070146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Guest (Гость)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5340906" y="3544372"/>
            <a:ext cx="6095286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Просмотр меню, заказов, столиков. Нет редактирования.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176361" y="4302204"/>
            <a:ext cx="8631674" cy="15240"/>
          </a:xfrm>
          <a:prstGeom prst="roundRect">
            <a:avLst>
              <a:gd name="adj" fmla="val 604410"/>
            </a:avLst>
          </a:prstGeom>
          <a:solidFill>
            <a:srgbClr val="E1C2C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592" y="4344829"/>
            <a:ext cx="4321373" cy="16146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7033" y="4959429"/>
            <a:ext cx="308372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421279" y="4739521"/>
            <a:ext cx="2741414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Waiter (Официант)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6421279" y="5213747"/>
            <a:ext cx="6614874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Все права гостя + управление заказами и статусами столиков.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256734" y="5971580"/>
            <a:ext cx="7551301" cy="15240"/>
          </a:xfrm>
          <a:prstGeom prst="roundRect">
            <a:avLst>
              <a:gd name="adj" fmla="val 604410"/>
            </a:avLst>
          </a:prstGeom>
          <a:solidFill>
            <a:srgbClr val="CCC4E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219" y="6014204"/>
            <a:ext cx="6482120" cy="161460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87033" y="6628805"/>
            <a:ext cx="308372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7501652" y="6233517"/>
            <a:ext cx="3196947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Admin (Администратор)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7501652" y="6707743"/>
            <a:ext cx="6141839" cy="70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Все права официанта + CRUD операции с меню, категориями, столиками.</a:t>
            </a:r>
            <a:endParaRPr lang="en-US" sz="17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DC7B168-2590-4D36-9980-8813FE79E0A8}"/>
              </a:ext>
            </a:extLst>
          </p:cNvPr>
          <p:cNvSpPr/>
          <p:nvPr/>
        </p:nvSpPr>
        <p:spPr>
          <a:xfrm>
            <a:off x="12768349" y="7764088"/>
            <a:ext cx="1784466" cy="401696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383" y="613529"/>
            <a:ext cx="7730966" cy="6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Основные сущности данных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9383" y="1754743"/>
            <a:ext cx="1307163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Данные в системе организованы в виде ключевых сущностей, что обеспечивает структурированное хранение и легкое управление информацией.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79383" y="3051691"/>
            <a:ext cx="4208740" cy="2003822"/>
          </a:xfrm>
          <a:prstGeom prst="roundRect">
            <a:avLst>
              <a:gd name="adj" fmla="val 7301"/>
            </a:avLst>
          </a:prstGeom>
          <a:solidFill>
            <a:srgbClr val="FFFAF6"/>
          </a:solidFill>
          <a:ln/>
          <a:effectLst>
            <a:outerShdw dist="2032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9383" y="3021211"/>
            <a:ext cx="4208740" cy="121920"/>
          </a:xfrm>
          <a:prstGeom prst="roundRect">
            <a:avLst>
              <a:gd name="adj" fmla="val 76719"/>
            </a:avLst>
          </a:prstGeom>
          <a:solidFill>
            <a:srgbClr val="E1C2C2"/>
          </a:solidFill>
          <a:ln/>
        </p:spPr>
      </p:sp>
      <p:sp>
        <p:nvSpPr>
          <p:cNvPr id="6" name="Shape 4"/>
          <p:cNvSpPr/>
          <p:nvPr/>
        </p:nvSpPr>
        <p:spPr>
          <a:xfrm>
            <a:off x="2549664" y="2717721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E1C2C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50046" y="2884765"/>
            <a:ext cx="267176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32510" y="3608427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MenuItem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032510" y="4089916"/>
            <a:ext cx="370248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id, name, description, categoryId, price, isAvailable, isActive.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0770" y="3051691"/>
            <a:ext cx="4208740" cy="2003822"/>
          </a:xfrm>
          <a:prstGeom prst="roundRect">
            <a:avLst>
              <a:gd name="adj" fmla="val 7301"/>
            </a:avLst>
          </a:prstGeom>
          <a:solidFill>
            <a:srgbClr val="FFFAF6"/>
          </a:solidFill>
          <a:ln/>
          <a:effectLst>
            <a:outerShdw dist="20320" dir="2700000" algn="bl" rotWithShape="0">
              <a:srgbClr val="CCC4EC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10770" y="3021211"/>
            <a:ext cx="4208740" cy="121920"/>
          </a:xfrm>
          <a:prstGeom prst="roundRect">
            <a:avLst>
              <a:gd name="adj" fmla="val 76719"/>
            </a:avLst>
          </a:prstGeom>
          <a:solidFill>
            <a:srgbClr val="CCC4EC"/>
          </a:solidFill>
          <a:ln/>
        </p:spPr>
      </p:sp>
      <p:sp>
        <p:nvSpPr>
          <p:cNvPr id="12" name="Shape 10"/>
          <p:cNvSpPr/>
          <p:nvPr/>
        </p:nvSpPr>
        <p:spPr>
          <a:xfrm>
            <a:off x="6981051" y="2717721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CCC4EC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181433" y="2884765"/>
            <a:ext cx="267176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63897" y="3608427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Category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5463897" y="4089916"/>
            <a:ext cx="370248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id, name, description, sortOrder, isActive.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2158" y="3051691"/>
            <a:ext cx="4208740" cy="2003822"/>
          </a:xfrm>
          <a:prstGeom prst="roundRect">
            <a:avLst>
              <a:gd name="adj" fmla="val 7301"/>
            </a:avLst>
          </a:prstGeom>
          <a:solidFill>
            <a:srgbClr val="FFFAF6"/>
          </a:solidFill>
          <a:ln/>
          <a:effectLst>
            <a:outerShdw dist="20320" dir="2700000" algn="bl" rotWithShape="0">
              <a:srgbClr val="B4DAE4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42158" y="3021211"/>
            <a:ext cx="4208740" cy="121920"/>
          </a:xfrm>
          <a:prstGeom prst="roundRect">
            <a:avLst>
              <a:gd name="adj" fmla="val 76719"/>
            </a:avLst>
          </a:prstGeom>
          <a:solidFill>
            <a:srgbClr val="B4D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12438" y="2717721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B4DAE4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612820" y="2884765"/>
            <a:ext cx="267176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5284" y="3608427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Table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9895284" y="4089916"/>
            <a:ext cx="370248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id, number, capacity, status, location.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79383" y="5612130"/>
            <a:ext cx="6424374" cy="2003822"/>
          </a:xfrm>
          <a:prstGeom prst="roundRect">
            <a:avLst>
              <a:gd name="adj" fmla="val 7301"/>
            </a:avLst>
          </a:prstGeom>
          <a:solidFill>
            <a:srgbClr val="FFFAF6"/>
          </a:solidFill>
          <a:ln/>
          <a:effectLst>
            <a:outerShdw dist="20320" dir="2700000" algn="bl" rotWithShape="0">
              <a:srgbClr val="E1C2C2">
                <a:alpha val="1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9383" y="5581650"/>
            <a:ext cx="6424374" cy="121920"/>
          </a:xfrm>
          <a:prstGeom prst="roundRect">
            <a:avLst>
              <a:gd name="adj" fmla="val 76719"/>
            </a:avLst>
          </a:prstGeom>
          <a:solidFill>
            <a:srgbClr val="E1C2C2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540" y="5278160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E1C2C2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857923" y="5445204"/>
            <a:ext cx="267176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32510" y="6168866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Order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1032510" y="6650355"/>
            <a:ext cx="591812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id, tableId, tableNumber, items[], status, totalAmount, notes, createdBy.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426404" y="5612130"/>
            <a:ext cx="6424493" cy="2003822"/>
          </a:xfrm>
          <a:prstGeom prst="roundRect">
            <a:avLst>
              <a:gd name="adj" fmla="val 7301"/>
            </a:avLst>
          </a:prstGeom>
          <a:solidFill>
            <a:srgbClr val="FFFAF6"/>
          </a:solidFill>
          <a:ln/>
          <a:effectLst>
            <a:outerShdw dist="20320" dir="2700000" algn="bl" rotWithShape="0">
              <a:srgbClr val="CCC4EC">
                <a:alpha val="10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26404" y="5581650"/>
            <a:ext cx="6424493" cy="121920"/>
          </a:xfrm>
          <a:prstGeom prst="roundRect">
            <a:avLst>
              <a:gd name="adj" fmla="val 76719"/>
            </a:avLst>
          </a:prstGeom>
          <a:solidFill>
            <a:srgbClr val="CCC4E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04562" y="5278160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CCC4EC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504944" y="5445204"/>
            <a:ext cx="267176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5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679531" y="6168866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Payment</a:t>
            </a:r>
            <a:endParaRPr lang="en-US" sz="2150" dirty="0"/>
          </a:p>
        </p:txBody>
      </p:sp>
      <p:sp>
        <p:nvSpPr>
          <p:cNvPr id="33" name="Text 31"/>
          <p:cNvSpPr/>
          <p:nvPr/>
        </p:nvSpPr>
        <p:spPr>
          <a:xfrm>
            <a:off x="7679531" y="6650355"/>
            <a:ext cx="591824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id, orderId, amount, method, status.</a:t>
            </a:r>
            <a:endParaRPr lang="en-US" sz="17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B01B085-A19B-45B2-8877-31D3965D05E2}"/>
              </a:ext>
            </a:extLst>
          </p:cNvPr>
          <p:cNvSpPr/>
          <p:nvPr/>
        </p:nvSpPr>
        <p:spPr>
          <a:xfrm>
            <a:off x="12768349" y="7764088"/>
            <a:ext cx="1784466" cy="401696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6274" y="412194"/>
            <a:ext cx="6636663" cy="468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Взаимодействие между сущностями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576274" y="1180028"/>
            <a:ext cx="9477732" cy="47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Модель данных разработана для обеспечения эффективного взаимодействия между различными элементами системы учета заказов.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274" y="1828086"/>
            <a:ext cx="9477732" cy="534126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49290" y="2220429"/>
            <a:ext cx="4584572" cy="4584426"/>
          </a:xfrm>
          <a:prstGeom prst="ellipse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489" y="4332390"/>
            <a:ext cx="420174" cy="336140"/>
          </a:xfrm>
          <a:prstGeom prst="rect">
            <a:avLst/>
          </a:prstGeom>
          <a:solidFill>
            <a:srgbClr val="DF966C"/>
          </a:solidFill>
        </p:spPr>
      </p:pic>
      <p:sp>
        <p:nvSpPr>
          <p:cNvPr id="7" name="Text 2"/>
          <p:cNvSpPr/>
          <p:nvPr/>
        </p:nvSpPr>
        <p:spPr>
          <a:xfrm>
            <a:off x="2800480" y="2290895"/>
            <a:ext cx="1755396" cy="262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MenuItem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2800480" y="2628202"/>
            <a:ext cx="1755396" cy="630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Элемент меню принадлежит категории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10083507" y="2290895"/>
            <a:ext cx="1746060" cy="262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Category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0083507" y="2628202"/>
            <a:ext cx="1746060" cy="42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Классифицирует пункты меню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2865987" y="5931242"/>
            <a:ext cx="1690036" cy="262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Table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2865987" y="6268549"/>
            <a:ext cx="1690036" cy="42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Место для размещения заказа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10027485" y="5931242"/>
            <a:ext cx="1802083" cy="262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Order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027485" y="6268549"/>
            <a:ext cx="1802083" cy="42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Содержит MenuItem и связана с Table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576274" y="7337822"/>
            <a:ext cx="9477732" cy="47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Каждая сущность играет ключевую роль в общей функциональности системы, обеспечивая целостность и согласованность данных.</a:t>
            </a:r>
            <a:endParaRPr lang="en-US" sz="11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E20B6C9-F6E4-4201-889F-4F904CF5582B}"/>
              </a:ext>
            </a:extLst>
          </p:cNvPr>
          <p:cNvSpPr/>
          <p:nvPr/>
        </p:nvSpPr>
        <p:spPr>
          <a:xfrm>
            <a:off x="12768349" y="7764088"/>
            <a:ext cx="1784466" cy="401696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2C8C9CF-A80B-43C9-8A1B-BDC87B8BA989}"/>
              </a:ext>
            </a:extLst>
          </p:cNvPr>
          <p:cNvSpPr/>
          <p:nvPr/>
        </p:nvSpPr>
        <p:spPr>
          <a:xfrm>
            <a:off x="6982691" y="4200698"/>
            <a:ext cx="731520" cy="609600"/>
          </a:xfrm>
          <a:prstGeom prst="rect">
            <a:avLst/>
          </a:prstGeom>
          <a:solidFill>
            <a:srgbClr val="DF96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4002" y="587573"/>
            <a:ext cx="4171831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Запуск проекта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84002" y="1359337"/>
            <a:ext cx="7975997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Для локального запуска проекта необходимо выполнить несколько простых шагов.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84002" y="1814036"/>
            <a:ext cx="166807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4002" y="2074664"/>
            <a:ext cx="7975997" cy="22860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7" name="Text 4"/>
          <p:cNvSpPr/>
          <p:nvPr/>
        </p:nvSpPr>
        <p:spPr>
          <a:xfrm>
            <a:off x="584002" y="2203728"/>
            <a:ext cx="286142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Клонирование репозитория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4002" y="2564487"/>
            <a:ext cx="7975997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Загрузите исходный код проекта из репозитория.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4002" y="3123486"/>
            <a:ext cx="166807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4002" y="3384113"/>
            <a:ext cx="7975997" cy="22860"/>
          </a:xfrm>
          <a:prstGeom prst="rect">
            <a:avLst/>
          </a:prstGeom>
          <a:solidFill>
            <a:srgbClr val="CCC4EC"/>
          </a:solidFill>
          <a:ln/>
        </p:spPr>
      </p:sp>
      <p:sp>
        <p:nvSpPr>
          <p:cNvPr id="11" name="Text 8"/>
          <p:cNvSpPr/>
          <p:nvPr/>
        </p:nvSpPr>
        <p:spPr>
          <a:xfrm>
            <a:off x="584002" y="3513177"/>
            <a:ext cx="2521982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Установка зависимостей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4002" y="3873937"/>
            <a:ext cx="797599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F655D"/>
                </a:solidFill>
                <a:highlight>
                  <a:srgbClr val="F2EDE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4002" y="4248626"/>
            <a:ext cx="7975997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Установите все необходимые пакеты и библиотеки.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4002" y="4807625"/>
            <a:ext cx="166807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4002" y="5068252"/>
            <a:ext cx="7975997" cy="22860"/>
          </a:xfrm>
          <a:prstGeom prst="rect">
            <a:avLst/>
          </a:prstGeom>
          <a:solidFill>
            <a:srgbClr val="B4DAE4"/>
          </a:solidFill>
          <a:ln/>
        </p:spPr>
      </p:sp>
      <p:sp>
        <p:nvSpPr>
          <p:cNvPr id="16" name="Text 13"/>
          <p:cNvSpPr/>
          <p:nvPr/>
        </p:nvSpPr>
        <p:spPr>
          <a:xfrm>
            <a:off x="584002" y="5197316"/>
            <a:ext cx="2085856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Настройка Firebase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4002" y="5558076"/>
            <a:ext cx="797599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Сконфигурируйте Firebase Realtime Database в файле </a:t>
            </a:r>
            <a:r>
              <a:rPr lang="en-US" sz="1300" dirty="0">
                <a:solidFill>
                  <a:srgbClr val="6F655D"/>
                </a:solidFill>
                <a:highlight>
                  <a:srgbClr val="F2EDE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firebase.ts</a:t>
            </a: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84002" y="6124694"/>
            <a:ext cx="166807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4002" y="6385322"/>
            <a:ext cx="7975997" cy="22860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20" name="Text 17"/>
          <p:cNvSpPr/>
          <p:nvPr/>
        </p:nvSpPr>
        <p:spPr>
          <a:xfrm>
            <a:off x="584002" y="6514386"/>
            <a:ext cx="283344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Запуск Development сервера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4002" y="6875145"/>
            <a:ext cx="797599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F655D"/>
                </a:solidFill>
                <a:highlight>
                  <a:srgbClr val="F2EDE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84002" y="7249835"/>
            <a:ext cx="7975997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Запустите сервер для разработки и начните работу с приложением.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670</Words>
  <Application>Microsoft Office PowerPoint</Application>
  <PresentationFormat>Произвольный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Consolas</vt:lpstr>
      <vt:lpstr>Playfair Display Semi Bold</vt:lpstr>
      <vt:lpstr>Public Sans</vt:lpstr>
      <vt:lpstr>Playfair Display Light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Смирнов</cp:lastModifiedBy>
  <cp:revision>3</cp:revision>
  <dcterms:created xsi:type="dcterms:W3CDTF">2026-01-06T19:35:32Z</dcterms:created>
  <dcterms:modified xsi:type="dcterms:W3CDTF">2026-01-06T19:50:11Z</dcterms:modified>
</cp:coreProperties>
</file>